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3100" y="1997075"/>
            <a:ext cx="4156075" cy="392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0658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808355"/>
            <a:ext cx="6141084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3100" y="2025650"/>
            <a:ext cx="10844530" cy="3814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66295" y="6494177"/>
            <a:ext cx="19113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1922779"/>
            <a:ext cx="674941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Análise</a:t>
            </a:r>
            <a:r>
              <a:rPr spc="-10" dirty="0"/>
              <a:t> </a:t>
            </a:r>
            <a:r>
              <a:rPr dirty="0">
                <a:solidFill>
                  <a:srgbClr val="00658A"/>
                </a:solidFill>
              </a:rPr>
              <a:t>Comercial </a:t>
            </a:r>
            <a:r>
              <a:rPr dirty="0"/>
              <a:t>e </a:t>
            </a:r>
            <a:r>
              <a:rPr dirty="0">
                <a:solidFill>
                  <a:srgbClr val="00658A"/>
                </a:solidFill>
              </a:rPr>
              <a:t>Rentabilidade </a:t>
            </a:r>
            <a:r>
              <a:rPr dirty="0"/>
              <a:t>da </a:t>
            </a:r>
            <a:r>
              <a:rPr spc="-10" dirty="0"/>
              <a:t>frota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2693352"/>
            <a:ext cx="423164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i="1" dirty="0">
                <a:solidFill>
                  <a:srgbClr val="111111"/>
                </a:solidFill>
                <a:latin typeface="Arial"/>
                <a:cs typeface="Arial"/>
              </a:rPr>
              <a:t>Desafio</a:t>
            </a:r>
            <a:r>
              <a:rPr sz="2400" b="1" i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111111"/>
                </a:solidFill>
                <a:latin typeface="Arial"/>
                <a:cs typeface="Arial"/>
              </a:rPr>
              <a:t>Maker</a:t>
            </a:r>
            <a:r>
              <a:rPr sz="2400" b="1" i="1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111111"/>
                </a:solidFill>
                <a:latin typeface="Arial"/>
                <a:cs typeface="Arial"/>
              </a:rPr>
              <a:t>|</a:t>
            </a:r>
            <a:r>
              <a:rPr sz="2400" b="1" i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sz="2400" b="1" i="1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111111"/>
                </a:solidFill>
                <a:latin typeface="Arial"/>
                <a:cs typeface="Arial"/>
              </a:rPr>
              <a:t>Science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4014470"/>
            <a:ext cx="2205355" cy="8445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Elaborado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111111"/>
                </a:solidFill>
                <a:latin typeface="Arial"/>
                <a:cs typeface="Arial"/>
              </a:rPr>
              <a:t>por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Marco</a:t>
            </a:r>
            <a:r>
              <a:rPr sz="2150" b="1" spc="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85" dirty="0">
                <a:solidFill>
                  <a:srgbClr val="00658A"/>
                </a:solidFill>
                <a:latin typeface="Arial"/>
                <a:cs typeface="Arial"/>
              </a:rPr>
              <a:t>T.</a:t>
            </a:r>
            <a:r>
              <a:rPr sz="2150" b="1" spc="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0658A"/>
                </a:solidFill>
                <a:latin typeface="Arial"/>
                <a:cs typeface="Arial"/>
              </a:rPr>
              <a:t>Dueñas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200650"/>
            <a:ext cx="47625" cy="342900"/>
          </a:xfrm>
          <a:custGeom>
            <a:avLst/>
            <a:gdLst/>
            <a:ahLst/>
            <a:cxnLst/>
            <a:rect l="l" t="t" r="r" b="b"/>
            <a:pathLst>
              <a:path w="47625" h="342900">
                <a:moveTo>
                  <a:pt x="47625" y="342900"/>
                </a:moveTo>
                <a:lnTo>
                  <a:pt x="0" y="342900"/>
                </a:lnTo>
                <a:lnTo>
                  <a:pt x="0" y="0"/>
                </a:lnTo>
                <a:lnTo>
                  <a:pt x="47625" y="0"/>
                </a:lnTo>
                <a:lnTo>
                  <a:pt x="47625" y="3429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1294130"/>
            <a:ext cx="468566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Como</a:t>
            </a:r>
            <a:r>
              <a:rPr spc="-10" dirty="0"/>
              <a:t> </a:t>
            </a:r>
            <a:r>
              <a:rPr dirty="0"/>
              <a:t>a análise foi </a:t>
            </a:r>
            <a:r>
              <a:rPr spc="-10" dirty="0"/>
              <a:t>conduzida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73100" y="2319020"/>
            <a:ext cx="2881630" cy="23018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50" b="1" spc="-25" dirty="0">
                <a:solidFill>
                  <a:srgbClr val="00658A"/>
                </a:solidFill>
                <a:latin typeface="Arial"/>
                <a:cs typeface="Arial"/>
              </a:rPr>
              <a:t>01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50" b="1" dirty="0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sz="1850" b="1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11111"/>
                </a:solidFill>
                <a:latin typeface="Arial"/>
                <a:cs typeface="Arial"/>
              </a:rPr>
              <a:t>Wrangling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54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Limpeza,</a:t>
            </a:r>
            <a:r>
              <a:rPr sz="2150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padronização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tratamento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111111"/>
                </a:solidFill>
                <a:latin typeface="Arial"/>
                <a:cs typeface="Arial"/>
              </a:rPr>
              <a:t>dos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dados.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6243" y="344487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AAAAAA"/>
                </a:solidFill>
                <a:latin typeface="Arial"/>
                <a:cs typeface="Arial"/>
              </a:rPr>
              <a:t>→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2555" y="2319020"/>
            <a:ext cx="2635885" cy="23018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50" b="1" spc="-25" dirty="0">
                <a:solidFill>
                  <a:srgbClr val="00658A"/>
                </a:solidFill>
                <a:latin typeface="Arial"/>
                <a:cs typeface="Arial"/>
              </a:rPr>
              <a:t>02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50" b="1" spc="-10" dirty="0">
                <a:solidFill>
                  <a:srgbClr val="111111"/>
                </a:solidFill>
                <a:latin typeface="Arial"/>
                <a:cs typeface="Arial"/>
              </a:rPr>
              <a:t>Oportunidades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54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Win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Rate,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velocidade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fechamento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50" dirty="0">
                <a:solidFill>
                  <a:srgbClr val="111111"/>
                </a:solidFill>
                <a:latin typeface="Arial"/>
                <a:cs typeface="Arial"/>
              </a:rPr>
              <a:t>e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volume.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5698" y="344487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AAAAAA"/>
                </a:solidFill>
                <a:latin typeface="Arial"/>
                <a:cs typeface="Arial"/>
              </a:rPr>
              <a:t>→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001" y="2528570"/>
            <a:ext cx="2789555" cy="18827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50" b="1" spc="-25" dirty="0">
                <a:solidFill>
                  <a:srgbClr val="00658A"/>
                </a:solidFill>
                <a:latin typeface="Arial"/>
                <a:cs typeface="Arial"/>
              </a:rPr>
              <a:t>03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50" b="1" spc="-10" dirty="0">
                <a:solidFill>
                  <a:srgbClr val="111111"/>
                </a:solidFill>
                <a:latin typeface="Arial"/>
                <a:cs typeface="Arial"/>
              </a:rPr>
              <a:t>Rentabilidade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8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Integração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com</a:t>
            </a:r>
            <a:r>
              <a:rPr sz="215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frota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50" dirty="0">
                <a:solidFill>
                  <a:srgbClr val="111111"/>
                </a:solidFill>
                <a:latin typeface="Arial"/>
                <a:cs typeface="Arial"/>
              </a:rPr>
              <a:t>e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análise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111111"/>
                </a:solidFill>
                <a:latin typeface="Arial"/>
                <a:cs typeface="Arial"/>
              </a:rPr>
              <a:t>mix.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8850" y="5207000"/>
            <a:ext cx="77127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Objetivo: transformar dados comerciais em uma recomendação de </a:t>
            </a:r>
            <a:r>
              <a:rPr sz="1800" spc="-10" dirty="0">
                <a:solidFill>
                  <a:srgbClr val="111111"/>
                </a:solidFill>
                <a:latin typeface="Arial"/>
                <a:cs typeface="Arial"/>
              </a:rPr>
              <a:t>negócio.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1494155"/>
            <a:ext cx="604964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01.</a:t>
            </a:r>
            <a:r>
              <a:rPr spc="-10" dirty="0"/>
              <a:t> </a:t>
            </a:r>
            <a:r>
              <a:rPr dirty="0"/>
              <a:t>Preparação e qualidade dos </a:t>
            </a:r>
            <a:r>
              <a:rPr spc="-10" dirty="0"/>
              <a:t>dados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2305050"/>
            <a:ext cx="5295900" cy="28575"/>
          </a:xfrm>
          <a:custGeom>
            <a:avLst/>
            <a:gdLst/>
            <a:ahLst/>
            <a:cxnLst/>
            <a:rect l="l" t="t" r="r" b="b"/>
            <a:pathLst>
              <a:path w="5295900" h="28575">
                <a:moveTo>
                  <a:pt x="5295900" y="28575"/>
                </a:moveTo>
                <a:lnTo>
                  <a:pt x="0" y="28575"/>
                </a:lnTo>
                <a:lnTo>
                  <a:pt x="0" y="0"/>
                </a:lnTo>
                <a:lnTo>
                  <a:pt x="5295900" y="0"/>
                </a:lnTo>
                <a:lnTo>
                  <a:pt x="5295900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9300" y="2482850"/>
            <a:ext cx="2887980" cy="867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Days_To_Close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318</a:t>
            </a:r>
            <a:r>
              <a:rPr sz="12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valores</a:t>
            </a:r>
            <a:r>
              <a:rPr sz="12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ausentes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Recuperados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partir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da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diferença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entre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67125" y="3152775"/>
            <a:ext cx="866775" cy="219075"/>
          </a:xfrm>
          <a:custGeom>
            <a:avLst/>
            <a:gdLst/>
            <a:ahLst/>
            <a:cxnLst/>
            <a:rect l="l" t="t" r="r" b="b"/>
            <a:pathLst>
              <a:path w="866775" h="219075">
                <a:moveTo>
                  <a:pt x="813377" y="219075"/>
                </a:moveTo>
                <a:lnTo>
                  <a:pt x="53397" y="219075"/>
                </a:lnTo>
                <a:lnTo>
                  <a:pt x="49682" y="21871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813377" y="0"/>
                </a:lnTo>
                <a:lnTo>
                  <a:pt x="852687" y="19392"/>
                </a:lnTo>
                <a:lnTo>
                  <a:pt x="866775" y="53397"/>
                </a:lnTo>
                <a:lnTo>
                  <a:pt x="866775" y="165677"/>
                </a:lnTo>
                <a:lnTo>
                  <a:pt x="847382" y="204987"/>
                </a:lnTo>
                <a:lnTo>
                  <a:pt x="817092" y="218713"/>
                </a:lnTo>
                <a:lnTo>
                  <a:pt x="813377" y="2190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4875" y="3152775"/>
            <a:ext cx="866775" cy="219075"/>
          </a:xfrm>
          <a:custGeom>
            <a:avLst/>
            <a:gdLst/>
            <a:ahLst/>
            <a:cxnLst/>
            <a:rect l="l" t="t" r="r" b="b"/>
            <a:pathLst>
              <a:path w="866775" h="219075">
                <a:moveTo>
                  <a:pt x="813377" y="219075"/>
                </a:moveTo>
                <a:lnTo>
                  <a:pt x="53397" y="219075"/>
                </a:lnTo>
                <a:lnTo>
                  <a:pt x="49682" y="21871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813377" y="0"/>
                </a:lnTo>
                <a:lnTo>
                  <a:pt x="852687" y="19392"/>
                </a:lnTo>
                <a:lnTo>
                  <a:pt x="866775" y="53397"/>
                </a:lnTo>
                <a:lnTo>
                  <a:pt x="866775" y="165677"/>
                </a:lnTo>
                <a:lnTo>
                  <a:pt x="847382" y="204987"/>
                </a:lnTo>
                <a:lnTo>
                  <a:pt x="817092" y="218713"/>
                </a:lnTo>
                <a:lnTo>
                  <a:pt x="813377" y="2190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11727" y="3130550"/>
            <a:ext cx="192913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545454"/>
                </a:solidFill>
                <a:latin typeface="Consolas"/>
                <a:cs typeface="Consolas"/>
              </a:rPr>
              <a:t>Close_Date</a:t>
            </a:r>
            <a:r>
              <a:rPr sz="1050" spc="340" dirty="0">
                <a:solidFill>
                  <a:srgbClr val="545454"/>
                </a:solidFill>
                <a:latin typeface="Consolas"/>
                <a:cs typeface="Consolas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sz="1250" spc="114" dirty="0">
                <a:solidFill>
                  <a:srgbClr val="545454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545454"/>
                </a:solidFill>
                <a:latin typeface="Consolas"/>
                <a:cs typeface="Consolas"/>
              </a:rPr>
              <a:t>Quote_Date</a:t>
            </a:r>
            <a:r>
              <a:rPr sz="1050" spc="-70" dirty="0">
                <a:solidFill>
                  <a:srgbClr val="545454"/>
                </a:solidFill>
                <a:latin typeface="Consolas"/>
                <a:cs typeface="Consolas"/>
              </a:rPr>
              <a:t> </a:t>
            </a:r>
            <a:r>
              <a:rPr sz="1250" spc="-50" dirty="0">
                <a:solidFill>
                  <a:srgbClr val="545454"/>
                </a:solidFill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19825" y="2305050"/>
            <a:ext cx="5286375" cy="28575"/>
          </a:xfrm>
          <a:custGeom>
            <a:avLst/>
            <a:gdLst/>
            <a:ahLst/>
            <a:cxnLst/>
            <a:rect l="l" t="t" r="r" b="b"/>
            <a:pathLst>
              <a:path w="5286375" h="28575">
                <a:moveTo>
                  <a:pt x="5286375" y="28575"/>
                </a:moveTo>
                <a:lnTo>
                  <a:pt x="0" y="28575"/>
                </a:lnTo>
                <a:lnTo>
                  <a:pt x="0" y="0"/>
                </a:lnTo>
                <a:lnTo>
                  <a:pt x="5286375" y="0"/>
                </a:lnTo>
                <a:lnTo>
                  <a:pt x="5286375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96325" y="3152775"/>
            <a:ext cx="485775" cy="219075"/>
          </a:xfrm>
          <a:custGeom>
            <a:avLst/>
            <a:gdLst/>
            <a:ahLst/>
            <a:cxnLst/>
            <a:rect l="l" t="t" r="r" b="b"/>
            <a:pathLst>
              <a:path w="485775" h="219075">
                <a:moveTo>
                  <a:pt x="432377" y="219075"/>
                </a:moveTo>
                <a:lnTo>
                  <a:pt x="53397" y="219075"/>
                </a:lnTo>
                <a:lnTo>
                  <a:pt x="49682" y="21871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432377" y="0"/>
                </a:lnTo>
                <a:lnTo>
                  <a:pt x="471687" y="19392"/>
                </a:lnTo>
                <a:lnTo>
                  <a:pt x="485775" y="53397"/>
                </a:lnTo>
                <a:lnTo>
                  <a:pt x="485775" y="165677"/>
                </a:lnTo>
                <a:lnTo>
                  <a:pt x="466382" y="204987"/>
                </a:lnTo>
                <a:lnTo>
                  <a:pt x="436092" y="218713"/>
                </a:lnTo>
                <a:lnTo>
                  <a:pt x="432377" y="2190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78562" y="2482850"/>
            <a:ext cx="2862580" cy="8674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Stage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9</a:t>
            </a:r>
            <a:r>
              <a:rPr sz="12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representações</a:t>
            </a:r>
            <a:r>
              <a:rPr sz="12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→</a:t>
            </a:r>
            <a:r>
              <a:rPr sz="12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2</a:t>
            </a:r>
            <a:r>
              <a:rPr sz="12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categorias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Padronização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dos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resultados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em</a:t>
            </a:r>
            <a:r>
              <a:rPr sz="1250" spc="80" dirty="0">
                <a:solidFill>
                  <a:srgbClr val="545454"/>
                </a:solidFill>
                <a:latin typeface="Arial"/>
                <a:cs typeface="Arial"/>
              </a:rPr>
              <a:t>  </a:t>
            </a:r>
            <a:r>
              <a:rPr sz="1050" spc="-10" dirty="0">
                <a:solidFill>
                  <a:srgbClr val="545454"/>
                </a:solidFill>
                <a:latin typeface="Consolas"/>
                <a:cs typeface="Consolas"/>
              </a:rPr>
              <a:t>Ganho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63075" y="3152775"/>
            <a:ext cx="638175" cy="219075"/>
          </a:xfrm>
          <a:custGeom>
            <a:avLst/>
            <a:gdLst/>
            <a:ahLst/>
            <a:cxnLst/>
            <a:rect l="l" t="t" r="r" b="b"/>
            <a:pathLst>
              <a:path w="638175" h="219075">
                <a:moveTo>
                  <a:pt x="584739" y="219075"/>
                </a:moveTo>
                <a:lnTo>
                  <a:pt x="53397" y="219075"/>
                </a:lnTo>
                <a:lnTo>
                  <a:pt x="49682" y="21871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584739" y="0"/>
                </a:lnTo>
                <a:lnTo>
                  <a:pt x="624077" y="19392"/>
                </a:lnTo>
                <a:lnTo>
                  <a:pt x="638175" y="53397"/>
                </a:lnTo>
                <a:lnTo>
                  <a:pt x="638175" y="165677"/>
                </a:lnTo>
                <a:lnTo>
                  <a:pt x="618744" y="204987"/>
                </a:lnTo>
                <a:lnTo>
                  <a:pt x="588454" y="218713"/>
                </a:lnTo>
                <a:lnTo>
                  <a:pt x="584739" y="2190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15130" y="3130550"/>
            <a:ext cx="84518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sz="1250" spc="85" dirty="0">
                <a:solidFill>
                  <a:srgbClr val="545454"/>
                </a:solidFill>
                <a:latin typeface="Arial"/>
                <a:cs typeface="Arial"/>
              </a:rPr>
              <a:t>  </a:t>
            </a:r>
            <a:r>
              <a:rPr sz="1050" dirty="0">
                <a:solidFill>
                  <a:srgbClr val="545454"/>
                </a:solidFill>
                <a:latin typeface="Consolas"/>
                <a:cs typeface="Consolas"/>
              </a:rPr>
              <a:t>Perdido</a:t>
            </a:r>
            <a:r>
              <a:rPr sz="1050" spc="-100" dirty="0">
                <a:solidFill>
                  <a:srgbClr val="545454"/>
                </a:solidFill>
                <a:latin typeface="Consolas"/>
                <a:cs typeface="Consolas"/>
              </a:rPr>
              <a:t> </a:t>
            </a:r>
            <a:r>
              <a:rPr sz="1250" spc="-60" dirty="0">
                <a:solidFill>
                  <a:srgbClr val="545454"/>
                </a:solidFill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800" y="3829050"/>
            <a:ext cx="5295900" cy="28575"/>
          </a:xfrm>
          <a:custGeom>
            <a:avLst/>
            <a:gdLst/>
            <a:ahLst/>
            <a:cxnLst/>
            <a:rect l="l" t="t" r="r" b="b"/>
            <a:pathLst>
              <a:path w="5295900" h="28575">
                <a:moveTo>
                  <a:pt x="5295900" y="28575"/>
                </a:moveTo>
                <a:lnTo>
                  <a:pt x="0" y="28575"/>
                </a:lnTo>
                <a:lnTo>
                  <a:pt x="0" y="0"/>
                </a:lnTo>
                <a:lnTo>
                  <a:pt x="5295900" y="0"/>
                </a:lnTo>
                <a:lnTo>
                  <a:pt x="5295900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9300" y="4006850"/>
            <a:ext cx="4472305" cy="1105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Datas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Tipos</a:t>
            </a:r>
            <a:r>
              <a:rPr sz="12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inconsistentes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2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Conversão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padronização</a:t>
            </a:r>
            <a:r>
              <a:rPr sz="1250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para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permitir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operações</a:t>
            </a:r>
            <a:r>
              <a:rPr sz="1250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temporais confiáveis.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19825" y="3829050"/>
            <a:ext cx="5286375" cy="28575"/>
          </a:xfrm>
          <a:custGeom>
            <a:avLst/>
            <a:gdLst/>
            <a:ahLst/>
            <a:cxnLst/>
            <a:rect l="l" t="t" r="r" b="b"/>
            <a:pathLst>
              <a:path w="5286375" h="28575">
                <a:moveTo>
                  <a:pt x="5286375" y="28575"/>
                </a:moveTo>
                <a:lnTo>
                  <a:pt x="0" y="28575"/>
                </a:lnTo>
                <a:lnTo>
                  <a:pt x="0" y="0"/>
                </a:lnTo>
                <a:lnTo>
                  <a:pt x="5286375" y="0"/>
                </a:lnTo>
                <a:lnTo>
                  <a:pt x="5286375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78562" y="4006850"/>
            <a:ext cx="5146675" cy="1105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Amount_BRL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Valores</a:t>
            </a:r>
            <a:r>
              <a:rPr sz="1250" b="1" spc="1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extremos</a:t>
            </a:r>
            <a:r>
              <a:rPr sz="12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identificados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2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Winsorização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baseada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em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IQR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para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reduzir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influência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extremos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5" dirty="0">
                <a:solidFill>
                  <a:srgbClr val="545454"/>
                </a:solidFill>
                <a:latin typeface="Arial"/>
                <a:cs typeface="Arial"/>
              </a:rPr>
              <a:t>nas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análises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estatísticas.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673100" y="6350000"/>
            <a:ext cx="4917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77777"/>
                </a:solidFill>
                <a:latin typeface="Arial"/>
                <a:cs typeface="Arial"/>
              </a:rPr>
              <a:t>Os valores monetários originais foram preservados separadamente para as análises </a:t>
            </a:r>
            <a:r>
              <a:rPr sz="900" spc="-10" dirty="0">
                <a:solidFill>
                  <a:srgbClr val="777777"/>
                </a:solidFill>
                <a:latin typeface="Arial"/>
                <a:cs typeface="Arial"/>
              </a:rPr>
              <a:t>financeiras.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4953000"/>
            <a:ext cx="47625" cy="342900"/>
          </a:xfrm>
          <a:custGeom>
            <a:avLst/>
            <a:gdLst/>
            <a:ahLst/>
            <a:cxnLst/>
            <a:rect l="l" t="t" r="r" b="b"/>
            <a:pathLst>
              <a:path w="47625" h="342900">
                <a:moveTo>
                  <a:pt x="47625" y="342900"/>
                </a:moveTo>
                <a:lnTo>
                  <a:pt x="0" y="342900"/>
                </a:lnTo>
                <a:lnTo>
                  <a:pt x="0" y="0"/>
                </a:lnTo>
                <a:lnTo>
                  <a:pt x="47625" y="0"/>
                </a:lnTo>
                <a:lnTo>
                  <a:pt x="47625" y="3429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1541780"/>
            <a:ext cx="442912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02.</a:t>
            </a:r>
            <a:r>
              <a:rPr spc="-10" dirty="0"/>
              <a:t> </a:t>
            </a:r>
            <a:r>
              <a:rPr dirty="0"/>
              <a:t>Benchmark da </a:t>
            </a:r>
            <a:r>
              <a:rPr spc="-10" dirty="0"/>
              <a:t>operação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73100" y="2271395"/>
            <a:ext cx="10497185" cy="84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Para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identificar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uma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oportunidade,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primeiro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foi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necessário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entender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comportamento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médio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da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operação.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3366882"/>
            <a:ext cx="155575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6.000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propostas</a:t>
            </a:r>
            <a:r>
              <a:rPr sz="1250" spc="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analisadas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1449" y="3366882"/>
            <a:ext cx="157607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45,45%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geral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9951" y="3366882"/>
            <a:ext cx="1583055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24,95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dias</a:t>
            </a:r>
            <a:r>
              <a:rPr sz="1250" spc="2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para</a:t>
            </a:r>
            <a:r>
              <a:rPr sz="1250" spc="3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fechamento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850" y="4959350"/>
            <a:ext cx="877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Buscamos perfis que combinassem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maior conversão </a:t>
            </a: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com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fechamento mais </a:t>
            </a:r>
            <a:r>
              <a:rPr sz="1800" b="1" spc="-10" dirty="0">
                <a:solidFill>
                  <a:srgbClr val="00658A"/>
                </a:solidFill>
                <a:latin typeface="Arial"/>
                <a:cs typeface="Arial"/>
              </a:rPr>
              <a:t>rápido</a:t>
            </a:r>
            <a:r>
              <a:rPr sz="1800" spc="-10" dirty="0">
                <a:solidFill>
                  <a:srgbClr val="111111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751205"/>
            <a:ext cx="484695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Como</a:t>
            </a:r>
            <a:r>
              <a:rPr spc="-15" dirty="0"/>
              <a:t> </a:t>
            </a:r>
            <a:r>
              <a:rPr dirty="0"/>
              <a:t>foi</a:t>
            </a:r>
            <a:r>
              <a:rPr spc="-5" dirty="0"/>
              <a:t> </a:t>
            </a:r>
            <a:r>
              <a:rPr dirty="0"/>
              <a:t>definido</a:t>
            </a:r>
            <a:r>
              <a:rPr spc="-5" dirty="0"/>
              <a:t> </a:t>
            </a:r>
            <a:r>
              <a:rPr dirty="0"/>
              <a:t>o</a:t>
            </a:r>
            <a:r>
              <a:rPr spc="-5" dirty="0"/>
              <a:t> </a:t>
            </a:r>
            <a:r>
              <a:rPr dirty="0"/>
              <a:t>Win</a:t>
            </a:r>
            <a:r>
              <a:rPr spc="-5" dirty="0"/>
              <a:t> </a:t>
            </a:r>
            <a:r>
              <a:rPr spc="-10" dirty="0"/>
              <a:t>Rate?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558925"/>
            <a:ext cx="10099040" cy="4471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215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indicador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representa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proporção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propostas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que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foram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efetivamente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ganhas.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Win</a:t>
            </a:r>
            <a:r>
              <a:rPr sz="215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Rate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=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Propostas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Ganhas</a:t>
            </a:r>
            <a:r>
              <a:rPr sz="21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/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Total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de</a:t>
            </a:r>
            <a:r>
              <a:rPr sz="21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Propostas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×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25" dirty="0">
                <a:solidFill>
                  <a:srgbClr val="00658A"/>
                </a:solidFill>
                <a:latin typeface="Arial"/>
                <a:cs typeface="Arial"/>
              </a:rPr>
              <a:t>100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Na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operação: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2.727</a:t>
            </a:r>
            <a:r>
              <a:rPr sz="21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propostas</a:t>
            </a:r>
            <a:r>
              <a:rPr sz="2150" b="1" spc="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ganhas</a:t>
            </a:r>
            <a:r>
              <a:rPr sz="2150" b="1" spc="4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em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6.000</a:t>
            </a:r>
            <a:r>
              <a:rPr sz="2150" b="1" spc="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0658A"/>
                </a:solidFill>
                <a:latin typeface="Arial"/>
                <a:cs typeface="Arial"/>
              </a:rPr>
              <a:t>propostas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2400" b="1" dirty="0">
                <a:solidFill>
                  <a:srgbClr val="00658A"/>
                </a:solidFill>
                <a:latin typeface="Arial"/>
                <a:cs typeface="Arial"/>
              </a:rPr>
              <a:t>Win</a:t>
            </a:r>
            <a:r>
              <a:rPr sz="2400" b="1" spc="-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58A"/>
                </a:solidFill>
                <a:latin typeface="Arial"/>
                <a:cs typeface="Arial"/>
              </a:rPr>
              <a:t>Rate</a:t>
            </a:r>
            <a:r>
              <a:rPr sz="2400" b="1" spc="-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58A"/>
                </a:solidFill>
                <a:latin typeface="Arial"/>
                <a:cs typeface="Arial"/>
              </a:rPr>
              <a:t>=</a:t>
            </a:r>
            <a:r>
              <a:rPr sz="2400" b="1" spc="-4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58A"/>
                </a:solidFill>
                <a:latin typeface="Arial"/>
                <a:cs typeface="Arial"/>
              </a:rPr>
              <a:t>45,45%</a:t>
            </a:r>
            <a:endParaRPr sz="2400">
              <a:latin typeface="Arial"/>
              <a:cs typeface="Arial"/>
            </a:endParaRPr>
          </a:p>
          <a:p>
            <a:pPr marL="12700" marR="604520">
              <a:lnSpc>
                <a:spcPct val="125000"/>
              </a:lnSpc>
              <a:spcBef>
                <a:spcPts val="1000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Esse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valor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foi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utilizado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como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uma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das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referências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para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identificar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os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perfis</a:t>
            </a:r>
            <a:r>
              <a:rPr sz="215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111111"/>
                </a:solidFill>
                <a:latin typeface="Arial"/>
                <a:cs typeface="Arial"/>
              </a:rPr>
              <a:t>de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oportunidade.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713105"/>
            <a:ext cx="617855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03.</a:t>
            </a:r>
            <a:r>
              <a:rPr spc="-10" dirty="0"/>
              <a:t> </a:t>
            </a:r>
            <a:r>
              <a:rPr dirty="0"/>
              <a:t>Duas oportunidades se </a:t>
            </a:r>
            <a:r>
              <a:rPr spc="-10" dirty="0"/>
              <a:t>destacaram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1581150"/>
            <a:ext cx="5076825" cy="38100"/>
          </a:xfrm>
          <a:custGeom>
            <a:avLst/>
            <a:gdLst/>
            <a:ahLst/>
            <a:cxnLst/>
            <a:rect l="l" t="t" r="r" b="b"/>
            <a:pathLst>
              <a:path w="5076825" h="38100">
                <a:moveTo>
                  <a:pt x="5076825" y="38100"/>
                </a:moveTo>
                <a:lnTo>
                  <a:pt x="0" y="38100"/>
                </a:lnTo>
                <a:lnTo>
                  <a:pt x="0" y="0"/>
                </a:lnTo>
                <a:lnTo>
                  <a:pt x="5076825" y="0"/>
                </a:lnTo>
                <a:lnTo>
                  <a:pt x="5076825" y="381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LOGISTICS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3600" spc="-10" dirty="0"/>
              <a:t>82,11%</a:t>
            </a:r>
            <a:endParaRPr sz="3600"/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b="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b="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b="0" spc="-2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150" dirty="0"/>
              <a:t>2,05</a:t>
            </a:r>
            <a:r>
              <a:rPr sz="2150" spc="5" dirty="0"/>
              <a:t> </a:t>
            </a:r>
            <a:r>
              <a:rPr sz="2150" dirty="0"/>
              <a:t>dias</a:t>
            </a:r>
            <a:r>
              <a:rPr sz="2150" spc="5" dirty="0"/>
              <a:t> </a:t>
            </a:r>
            <a:r>
              <a:rPr sz="2150" b="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b="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111111"/>
                </a:solidFill>
                <a:latin typeface="Arial"/>
                <a:cs typeface="Arial"/>
              </a:rPr>
              <a:t>fechamento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/>
              <a:t>788</a:t>
            </a:r>
            <a:r>
              <a:rPr sz="2150" spc="5" dirty="0"/>
              <a:t> </a:t>
            </a:r>
            <a:r>
              <a:rPr sz="2150" spc="-10" dirty="0"/>
              <a:t>propostas</a:t>
            </a:r>
            <a:endParaRPr sz="2150"/>
          </a:p>
          <a:p>
            <a:pPr>
              <a:lnSpc>
                <a:spcPct val="100000"/>
              </a:lnSpc>
            </a:pPr>
            <a:endParaRPr sz="2150"/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150"/>
          </a:p>
          <a:p>
            <a:pPr marL="12700">
              <a:lnSpc>
                <a:spcPct val="100000"/>
              </a:lnSpc>
            </a:pPr>
            <a:r>
              <a:rPr sz="2150" b="0" dirty="0">
                <a:solidFill>
                  <a:srgbClr val="111111"/>
                </a:solidFill>
                <a:latin typeface="Arial"/>
                <a:cs typeface="Arial"/>
              </a:rPr>
              <a:t>Setor</a:t>
            </a:r>
            <a:r>
              <a:rPr sz="2150" b="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b="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111111"/>
                </a:solidFill>
                <a:latin typeface="Arial"/>
                <a:cs typeface="Arial"/>
              </a:rPr>
              <a:t>maior</a:t>
            </a:r>
            <a:r>
              <a:rPr sz="2150" b="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111111"/>
                </a:solidFill>
                <a:latin typeface="Arial"/>
                <a:cs typeface="Arial"/>
              </a:rPr>
              <a:t>escala</a:t>
            </a:r>
            <a:r>
              <a:rPr sz="2150" b="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0" dirty="0">
                <a:solidFill>
                  <a:srgbClr val="111111"/>
                </a:solidFill>
                <a:latin typeface="Arial"/>
                <a:cs typeface="Arial"/>
              </a:rPr>
              <a:t>e</a:t>
            </a:r>
            <a:r>
              <a:rPr sz="2150" b="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0" spc="-10" dirty="0">
                <a:solidFill>
                  <a:srgbClr val="111111"/>
                </a:solidFill>
                <a:latin typeface="Arial"/>
                <a:cs typeface="Arial"/>
              </a:rPr>
              <a:t>robustez.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9375" y="1581150"/>
            <a:ext cx="5076825" cy="38100"/>
          </a:xfrm>
          <a:custGeom>
            <a:avLst/>
            <a:gdLst/>
            <a:ahLst/>
            <a:cxnLst/>
            <a:rect l="l" t="t" r="r" b="b"/>
            <a:pathLst>
              <a:path w="5076825" h="38100">
                <a:moveTo>
                  <a:pt x="5076825" y="38100"/>
                </a:moveTo>
                <a:lnTo>
                  <a:pt x="0" y="38100"/>
                </a:lnTo>
                <a:lnTo>
                  <a:pt x="0" y="0"/>
                </a:lnTo>
                <a:lnTo>
                  <a:pt x="5076825" y="0"/>
                </a:lnTo>
                <a:lnTo>
                  <a:pt x="5076825" y="381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16675" y="1997075"/>
            <a:ext cx="43395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0658A"/>
                </a:solidFill>
                <a:latin typeface="Arial"/>
                <a:cs typeface="Arial"/>
              </a:rPr>
              <a:t>SENNA</a:t>
            </a:r>
            <a:r>
              <a:rPr sz="2250" b="1" spc="-10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250" b="1" spc="-25" dirty="0">
                <a:solidFill>
                  <a:srgbClr val="00658A"/>
                </a:solidFill>
                <a:latin typeface="Arial"/>
                <a:cs typeface="Arial"/>
              </a:rPr>
              <a:t>HEAVY</a:t>
            </a:r>
            <a:r>
              <a:rPr sz="2250" b="1" spc="-6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00658A"/>
                </a:solidFill>
                <a:latin typeface="Arial"/>
                <a:cs typeface="Arial"/>
              </a:rPr>
              <a:t>MACHINING</a:t>
            </a:r>
            <a:r>
              <a:rPr sz="2250" b="1" spc="-25" dirty="0">
                <a:solidFill>
                  <a:srgbClr val="00658A"/>
                </a:solidFill>
                <a:latin typeface="Arial"/>
                <a:cs typeface="Arial"/>
              </a:rPr>
              <a:t> 614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416675" y="2385807"/>
            <a:ext cx="157607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90,00%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6675" y="4016375"/>
            <a:ext cx="4447540" cy="190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3,70</a:t>
            </a:r>
            <a:r>
              <a:rPr sz="2150" b="1" spc="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dias</a:t>
            </a:r>
            <a:r>
              <a:rPr sz="2150" b="1" spc="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fechamento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10</a:t>
            </a:r>
            <a:r>
              <a:rPr sz="2150" b="1" spc="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0658A"/>
                </a:solidFill>
                <a:latin typeface="Arial"/>
                <a:cs typeface="Arial"/>
              </a:rPr>
              <a:t>propostas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Oportunidade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individual</a:t>
            </a:r>
            <a:r>
              <a:rPr sz="215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promissora.</a:t>
            </a:r>
            <a:endParaRPr sz="2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100" y="6350000"/>
            <a:ext cx="3533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77777"/>
                </a:solidFill>
                <a:latin typeface="Arial"/>
                <a:cs typeface="Arial"/>
              </a:rPr>
              <a:t>Benchmark: 45,45% de Win Rate e 24,95 dias de fechamento </a:t>
            </a:r>
            <a:r>
              <a:rPr sz="900" spc="-10" dirty="0">
                <a:solidFill>
                  <a:srgbClr val="777777"/>
                </a:solidFill>
                <a:latin typeface="Arial"/>
                <a:cs typeface="Arial"/>
              </a:rPr>
              <a:t>médio.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43525"/>
            <a:ext cx="47625" cy="342900"/>
          </a:xfrm>
          <a:custGeom>
            <a:avLst/>
            <a:gdLst/>
            <a:ahLst/>
            <a:cxnLst/>
            <a:rect l="l" t="t" r="r" b="b"/>
            <a:pathLst>
              <a:path w="47625" h="342900">
                <a:moveTo>
                  <a:pt x="47625" y="342900"/>
                </a:moveTo>
                <a:lnTo>
                  <a:pt x="0" y="342900"/>
                </a:lnTo>
                <a:lnTo>
                  <a:pt x="0" y="0"/>
                </a:lnTo>
                <a:lnTo>
                  <a:pt x="47625" y="0"/>
                </a:lnTo>
                <a:lnTo>
                  <a:pt x="47625" y="3429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Por</a:t>
            </a:r>
            <a:r>
              <a:rPr spc="-10" dirty="0"/>
              <a:t> </a:t>
            </a:r>
            <a:r>
              <a:rPr dirty="0"/>
              <a:t>que escolher o setor de </a:t>
            </a:r>
            <a:r>
              <a:rPr spc="-10" dirty="0"/>
              <a:t>Logistics?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73100" y="2073275"/>
            <a:ext cx="210629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0658A"/>
                </a:solidFill>
                <a:latin typeface="Arial"/>
                <a:cs typeface="Arial"/>
              </a:rPr>
              <a:t>Operação </a:t>
            </a:r>
            <a:r>
              <a:rPr sz="2250" b="1" spc="-10" dirty="0">
                <a:solidFill>
                  <a:srgbClr val="00658A"/>
                </a:solidFill>
                <a:latin typeface="Arial"/>
                <a:cs typeface="Arial"/>
              </a:rPr>
              <a:t>geral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2404857"/>
            <a:ext cx="157607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45,45%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3747882"/>
            <a:ext cx="116967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24,95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dias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16675" y="2073275"/>
            <a:ext cx="128016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00658A"/>
                </a:solidFill>
                <a:latin typeface="Arial"/>
                <a:cs typeface="Arial"/>
              </a:rPr>
              <a:t>Logistics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6675" y="2404857"/>
            <a:ext cx="1551305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30" dirty="0">
                <a:solidFill>
                  <a:srgbClr val="00658A"/>
                </a:solidFill>
                <a:latin typeface="Arial"/>
                <a:cs typeface="Arial"/>
              </a:rPr>
              <a:t>82,11%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6675" y="3747882"/>
            <a:ext cx="915669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20" dirty="0">
                <a:solidFill>
                  <a:srgbClr val="00658A"/>
                </a:solidFill>
                <a:latin typeface="Arial"/>
                <a:cs typeface="Arial"/>
              </a:rPr>
              <a:t>2,05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dias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8850" y="5349875"/>
            <a:ext cx="9683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788 propostas </a:t>
            </a: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tornam Logistics a oportunidade comercial mais robusta encontrada na </a:t>
            </a:r>
            <a:r>
              <a:rPr sz="1800" spc="-10" dirty="0">
                <a:solidFill>
                  <a:srgbClr val="111111"/>
                </a:solidFill>
                <a:latin typeface="Arial"/>
                <a:cs typeface="Arial"/>
              </a:rPr>
              <a:t>análise.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Por que Senna Heavy Machining </a:t>
            </a:r>
            <a:r>
              <a:rPr spc="-20" dirty="0"/>
              <a:t>614?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918970"/>
            <a:ext cx="10051415" cy="2254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899"/>
              </a:lnSpc>
              <a:spcBef>
                <a:spcPts val="9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análise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individual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apresentou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vários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clientes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com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Win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Rate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elevado,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porém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111111"/>
                </a:solidFill>
                <a:latin typeface="Arial"/>
                <a:cs typeface="Arial"/>
              </a:rPr>
              <a:t>com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poucas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observações.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25"/>
              </a:spcBef>
            </a:pPr>
            <a:endParaRPr sz="2150">
              <a:latin typeface="Arial"/>
              <a:cs typeface="Arial"/>
            </a:endParaRPr>
          </a:p>
          <a:p>
            <a:pPr marL="12700" marR="528955">
              <a:lnSpc>
                <a:spcPct val="125000"/>
              </a:lnSpc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Foi</a:t>
            </a:r>
            <a:r>
              <a:rPr sz="215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utilizado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um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suporte</a:t>
            </a:r>
            <a:r>
              <a:rPr sz="2150" b="1" spc="6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mínimo</a:t>
            </a:r>
            <a:r>
              <a:rPr sz="2150" b="1" spc="6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exploratório</a:t>
            </a:r>
            <a:r>
              <a:rPr sz="2150" b="1" spc="6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de</a:t>
            </a:r>
            <a:r>
              <a:rPr sz="2150" b="1" spc="6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10</a:t>
            </a:r>
            <a:r>
              <a:rPr sz="2150" b="1" spc="6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propostas</a:t>
            </a:r>
            <a:r>
              <a:rPr sz="2150" b="1" spc="6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para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reduzir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conclusões</a:t>
            </a:r>
            <a:r>
              <a:rPr sz="215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baseadas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em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amostras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excessivamente</a:t>
            </a:r>
            <a:r>
              <a:rPr sz="215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pequenas.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4424157"/>
            <a:ext cx="73660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25" dirty="0">
                <a:solidFill>
                  <a:srgbClr val="00658A"/>
                </a:solidFill>
                <a:latin typeface="Arial"/>
                <a:cs typeface="Arial"/>
              </a:rPr>
              <a:t>10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propostas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1449" y="4424157"/>
            <a:ext cx="941069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25" dirty="0">
                <a:solidFill>
                  <a:srgbClr val="00658A"/>
                </a:solidFill>
                <a:latin typeface="Arial"/>
                <a:cs typeface="Arial"/>
              </a:rPr>
              <a:t>90%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89951" y="4424157"/>
            <a:ext cx="915669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20" dirty="0">
                <a:solidFill>
                  <a:srgbClr val="00658A"/>
                </a:solidFill>
                <a:latin typeface="Arial"/>
                <a:cs typeface="Arial"/>
              </a:rPr>
              <a:t>3,70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dias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100" y="6350000"/>
            <a:ext cx="52666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77777"/>
                </a:solidFill>
                <a:latin typeface="Arial"/>
                <a:cs typeface="Arial"/>
              </a:rPr>
              <a:t>O limite de 10 propostas é um critério exploratório de suporte, não um limiar de significância </a:t>
            </a:r>
            <a:r>
              <a:rPr sz="900" spc="-10" dirty="0">
                <a:solidFill>
                  <a:srgbClr val="777777"/>
                </a:solidFill>
                <a:latin typeface="Arial"/>
                <a:cs typeface="Arial"/>
              </a:rPr>
              <a:t>estatística.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4791075"/>
            <a:ext cx="47625" cy="685800"/>
          </a:xfrm>
          <a:custGeom>
            <a:avLst/>
            <a:gdLst/>
            <a:ahLst/>
            <a:cxnLst/>
            <a:rect l="l" t="t" r="r" b="b"/>
            <a:pathLst>
              <a:path w="47625" h="685800">
                <a:moveTo>
                  <a:pt x="47625" y="685800"/>
                </a:moveTo>
                <a:lnTo>
                  <a:pt x="0" y="685800"/>
                </a:lnTo>
                <a:lnTo>
                  <a:pt x="0" y="0"/>
                </a:lnTo>
                <a:lnTo>
                  <a:pt x="47625" y="0"/>
                </a:lnTo>
                <a:lnTo>
                  <a:pt x="47625" y="6858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04. O Fator </a:t>
            </a:r>
            <a:r>
              <a:rPr spc="-10" dirty="0"/>
              <a:t>Multiplicador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73100" y="1987550"/>
            <a:ext cx="9763760" cy="345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00658A"/>
                </a:solidFill>
                <a:latin typeface="Arial"/>
                <a:cs typeface="Arial"/>
              </a:rPr>
              <a:t>Alta conversão significa alta </a:t>
            </a:r>
            <a:r>
              <a:rPr sz="2250" b="1" spc="-10" dirty="0">
                <a:solidFill>
                  <a:srgbClr val="00658A"/>
                </a:solidFill>
                <a:latin typeface="Arial"/>
                <a:cs typeface="Arial"/>
              </a:rPr>
              <a:t>rentabilidade?</a:t>
            </a:r>
            <a:endParaRPr sz="2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65"/>
              </a:spcBef>
            </a:pPr>
            <a:endParaRPr sz="2250">
              <a:latin typeface="Arial"/>
              <a:cs typeface="Arial"/>
            </a:endParaRPr>
          </a:p>
          <a:p>
            <a:pPr marL="12700" marR="132080">
              <a:lnSpc>
                <a:spcPct val="125000"/>
              </a:lnSpc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Missão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mostrou</a:t>
            </a:r>
            <a:r>
              <a:rPr sz="215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que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Senna</a:t>
            </a:r>
            <a:r>
              <a:rPr sz="21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Heavy</a:t>
            </a:r>
            <a:r>
              <a:rPr sz="21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Machining</a:t>
            </a:r>
            <a:r>
              <a:rPr sz="21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614</a:t>
            </a:r>
            <a:r>
              <a:rPr sz="21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possui</a:t>
            </a:r>
            <a:r>
              <a:rPr sz="215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comportamento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comercial</a:t>
            </a:r>
            <a:r>
              <a:rPr sz="215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excepcional.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Mas</a:t>
            </a:r>
            <a:r>
              <a:rPr sz="215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análise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comercial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não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responde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uma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segunda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pergunta: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150">
              <a:latin typeface="Arial"/>
              <a:cs typeface="Arial"/>
            </a:endParaRPr>
          </a:p>
          <a:p>
            <a:pPr marL="298450" marR="5080">
              <a:lnSpc>
                <a:spcPct val="125000"/>
              </a:lnSpc>
            </a:pP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Os equipamentos associados a essas vendas também apresentam um </a:t>
            </a:r>
            <a:r>
              <a:rPr sz="1800" b="1" spc="-10" dirty="0">
                <a:solidFill>
                  <a:srgbClr val="00658A"/>
                </a:solidFill>
                <a:latin typeface="Arial"/>
                <a:cs typeface="Arial"/>
              </a:rPr>
              <a:t>comportamento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economicamente </a:t>
            </a:r>
            <a:r>
              <a:rPr sz="1800" b="1" spc="-10" dirty="0">
                <a:solidFill>
                  <a:srgbClr val="00658A"/>
                </a:solidFill>
                <a:latin typeface="Arial"/>
                <a:cs typeface="Arial"/>
              </a:rPr>
              <a:t>favorável?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Cruzando</a:t>
            </a:r>
            <a:r>
              <a:rPr spc="-10" dirty="0"/>
              <a:t> </a:t>
            </a:r>
            <a:r>
              <a:rPr dirty="0"/>
              <a:t>comercial e </a:t>
            </a:r>
            <a:r>
              <a:rPr spc="-10" dirty="0"/>
              <a:t>frota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985645"/>
            <a:ext cx="1613535" cy="22923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50" b="1" spc="-10" dirty="0">
                <a:solidFill>
                  <a:srgbClr val="00658A"/>
                </a:solidFill>
                <a:latin typeface="Arial"/>
                <a:cs typeface="Arial"/>
              </a:rPr>
              <a:t>HISTÓRICO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50" b="1" spc="-10" dirty="0">
                <a:solidFill>
                  <a:srgbClr val="111111"/>
                </a:solidFill>
                <a:latin typeface="Arial"/>
                <a:cs typeface="Arial"/>
              </a:rPr>
              <a:t>Propostas</a:t>
            </a:r>
            <a:endParaRPr sz="1850">
              <a:latin typeface="Arial"/>
              <a:cs typeface="Arial"/>
            </a:endParaRPr>
          </a:p>
          <a:p>
            <a:pPr marL="12700" marR="732155">
              <a:lnSpc>
                <a:spcPct val="126499"/>
              </a:lnSpc>
              <a:spcBef>
                <a:spcPts val="470"/>
              </a:spcBef>
            </a:pP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Cliente Valor Stage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6243" y="310197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AAAAAA"/>
                </a:solidFill>
                <a:latin typeface="Arial"/>
                <a:cs typeface="Arial"/>
              </a:rPr>
              <a:t>→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2555" y="2185670"/>
            <a:ext cx="2728595" cy="18827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50" b="1" spc="-10" dirty="0">
                <a:solidFill>
                  <a:srgbClr val="00658A"/>
                </a:solidFill>
                <a:latin typeface="Arial"/>
                <a:cs typeface="Arial"/>
              </a:rPr>
              <a:t>CHAVE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50" b="1" spc="-10" dirty="0">
                <a:solidFill>
                  <a:srgbClr val="111111"/>
                </a:solidFill>
                <a:latin typeface="Arial"/>
                <a:cs typeface="Arial"/>
              </a:rPr>
              <a:t>Serial_ID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8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Identificação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ativo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associado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à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proposta.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5698" y="310197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AAAAAA"/>
                </a:solidFill>
                <a:latin typeface="Arial"/>
                <a:cs typeface="Arial"/>
              </a:rPr>
              <a:t>→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2001" y="1985645"/>
            <a:ext cx="1546225" cy="22923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50" b="1" spc="-10" dirty="0">
                <a:solidFill>
                  <a:srgbClr val="00658A"/>
                </a:solidFill>
                <a:latin typeface="Arial"/>
                <a:cs typeface="Arial"/>
              </a:rPr>
              <a:t>FROTA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50" b="1" spc="-10" dirty="0">
                <a:solidFill>
                  <a:srgbClr val="111111"/>
                </a:solidFill>
                <a:latin typeface="Arial"/>
                <a:cs typeface="Arial"/>
              </a:rPr>
              <a:t>Equipamento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26499"/>
              </a:lnSpc>
              <a:spcBef>
                <a:spcPts val="470"/>
              </a:spcBef>
            </a:pP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Modelo Solução Manutenção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100" y="4681332"/>
            <a:ext cx="1411605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25" dirty="0">
                <a:solidFill>
                  <a:srgbClr val="00658A"/>
                </a:solidFill>
                <a:latin typeface="Arial"/>
                <a:cs typeface="Arial"/>
              </a:rPr>
              <a:t>580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ativos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relacionados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81449" y="4681332"/>
            <a:ext cx="2105025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4.290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cotações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com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dados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de</a:t>
            </a:r>
            <a:r>
              <a:rPr sz="1250" spc="3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frota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89951" y="4681332"/>
            <a:ext cx="1708785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71,5%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cobertura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das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cotações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4629150"/>
            <a:ext cx="47625" cy="838200"/>
          </a:xfrm>
          <a:custGeom>
            <a:avLst/>
            <a:gdLst/>
            <a:ahLst/>
            <a:cxnLst/>
            <a:rect l="l" t="t" r="r" b="b"/>
            <a:pathLst>
              <a:path w="47625" h="838200">
                <a:moveTo>
                  <a:pt x="47625" y="838200"/>
                </a:moveTo>
                <a:lnTo>
                  <a:pt x="0" y="838200"/>
                </a:lnTo>
                <a:lnTo>
                  <a:pt x="0" y="0"/>
                </a:lnTo>
                <a:lnTo>
                  <a:pt x="47625" y="0"/>
                </a:lnTo>
                <a:lnTo>
                  <a:pt x="47625" y="8382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3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Senna</a:t>
            </a:r>
            <a:r>
              <a:rPr spc="-10" dirty="0"/>
              <a:t> </a:t>
            </a:r>
            <a:r>
              <a:rPr dirty="0"/>
              <a:t>continua </a:t>
            </a:r>
            <a:r>
              <a:rPr spc="-10" dirty="0"/>
              <a:t>convertendo...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73100" y="1947545"/>
            <a:ext cx="10282555" cy="844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Mesmo</a:t>
            </a:r>
            <a:r>
              <a:rPr sz="215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considerando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somente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as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propostas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que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possuem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correspondência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com</a:t>
            </a:r>
            <a:r>
              <a:rPr sz="215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25" dirty="0">
                <a:solidFill>
                  <a:srgbClr val="111111"/>
                </a:solidFill>
                <a:latin typeface="Arial"/>
                <a:cs typeface="Arial"/>
              </a:rPr>
              <a:t>os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dados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frota: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3043032"/>
            <a:ext cx="1322070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10" dirty="0">
                <a:solidFill>
                  <a:srgbClr val="00658A"/>
                </a:solidFill>
                <a:latin typeface="Arial"/>
                <a:cs typeface="Arial"/>
              </a:rPr>
              <a:t>87,5%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Win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Rate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5700" y="3043032"/>
            <a:ext cx="1816735" cy="1183640"/>
          </a:xfrm>
          <a:prstGeom prst="rect">
            <a:avLst/>
          </a:prstGeom>
        </p:spPr>
        <p:txBody>
          <a:bodyPr vert="horz" wrap="square" lIns="0" tIns="319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b="1" spc="-50" dirty="0">
                <a:solidFill>
                  <a:srgbClr val="00658A"/>
                </a:solidFill>
                <a:latin typeface="Arial"/>
                <a:cs typeface="Arial"/>
              </a:rPr>
              <a:t>8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propostas</a:t>
            </a:r>
            <a:r>
              <a:rPr sz="1250" spc="4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com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cobertura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850" y="4635500"/>
            <a:ext cx="7788909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problema encontrado</a:t>
            </a:r>
            <a:r>
              <a:rPr sz="18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não está</a:t>
            </a:r>
            <a:r>
              <a:rPr sz="1800" b="1" spc="-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na capacidade</a:t>
            </a:r>
            <a:r>
              <a:rPr sz="1800" b="1" spc="-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de conversão do</a:t>
            </a:r>
            <a:r>
              <a:rPr sz="1800" b="1" spc="-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58A"/>
                </a:solidFill>
                <a:latin typeface="Arial"/>
                <a:cs typeface="Arial"/>
              </a:rPr>
              <a:t>cliente</a:t>
            </a:r>
            <a:r>
              <a:rPr sz="1800" spc="-10" dirty="0">
                <a:solidFill>
                  <a:srgbClr val="111111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Está no comportamento dos equipamentos </a:t>
            </a:r>
            <a:r>
              <a:rPr sz="1800" spc="-10" dirty="0">
                <a:solidFill>
                  <a:srgbClr val="111111"/>
                </a:solidFill>
                <a:latin typeface="Arial"/>
                <a:cs typeface="Arial"/>
              </a:rPr>
              <a:t>associados.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5800" y="1819275"/>
          <a:ext cx="4591050" cy="2200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10" dirty="0">
                          <a:solidFill>
                            <a:srgbClr val="333333"/>
                          </a:solidFill>
                          <a:latin typeface="Arial"/>
                          <a:cs typeface="Arial"/>
                        </a:rPr>
                        <a:t>Indicador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10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MP4/4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1F4F5"/>
                    </a:solidFil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10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AMR23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1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Propostas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spc="-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Win</a:t>
                      </a:r>
                      <a:r>
                        <a:rPr sz="1250" spc="4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Rate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20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20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100%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Valor</a:t>
                      </a:r>
                      <a:r>
                        <a:rPr sz="12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das</a:t>
                      </a:r>
                      <a:r>
                        <a:rPr sz="1250" spc="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propostas</a:t>
                      </a:r>
                      <a:r>
                        <a:rPr sz="1250" spc="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ganhas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R$</a:t>
                      </a:r>
                      <a:r>
                        <a:rPr sz="1250" spc="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696,6</a:t>
                      </a:r>
                      <a:r>
                        <a:rPr sz="1250" spc="3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mil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R$</a:t>
                      </a:r>
                      <a:r>
                        <a:rPr sz="1250" spc="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41,8</a:t>
                      </a:r>
                      <a:r>
                        <a:rPr sz="1250" spc="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mil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Manutenção</a:t>
                      </a:r>
                      <a:r>
                        <a:rPr sz="1250" spc="7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acumulada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R$</a:t>
                      </a:r>
                      <a:r>
                        <a:rPr sz="1250" b="1" spc="25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1,38</a:t>
                      </a:r>
                      <a:r>
                        <a:rPr sz="1250" b="1" spc="25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spc="-25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mi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R$</a:t>
                      </a:r>
                      <a:r>
                        <a:rPr sz="1250" spc="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7,8</a:t>
                      </a:r>
                      <a:r>
                        <a:rPr sz="1250" spc="2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2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mil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Manutenção</a:t>
                      </a:r>
                      <a:r>
                        <a:rPr sz="1250" spc="3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250" spc="4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valor</a:t>
                      </a:r>
                      <a:r>
                        <a:rPr sz="1250" spc="35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50" spc="-10" dirty="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ganho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20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199%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192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50" b="1" spc="-25" dirty="0">
                          <a:solidFill>
                            <a:srgbClr val="00658A"/>
                          </a:solidFill>
                          <a:latin typeface="Arial"/>
                          <a:cs typeface="Arial"/>
                        </a:rPr>
                        <a:t>19%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85800" y="4981575"/>
            <a:ext cx="47625" cy="685800"/>
          </a:xfrm>
          <a:custGeom>
            <a:avLst/>
            <a:gdLst/>
            <a:ahLst/>
            <a:cxnLst/>
            <a:rect l="l" t="t" r="r" b="b"/>
            <a:pathLst>
              <a:path w="47625" h="685800">
                <a:moveTo>
                  <a:pt x="47625" y="685800"/>
                </a:moveTo>
                <a:lnTo>
                  <a:pt x="0" y="685800"/>
                </a:lnTo>
                <a:lnTo>
                  <a:pt x="0" y="0"/>
                </a:lnTo>
                <a:lnTo>
                  <a:pt x="47625" y="0"/>
                </a:lnTo>
                <a:lnTo>
                  <a:pt x="47625" y="6858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...mas</a:t>
            </a:r>
            <a:r>
              <a:rPr spc="-10" dirty="0"/>
              <a:t> </a:t>
            </a:r>
            <a:r>
              <a:rPr dirty="0"/>
              <a:t>o mix revela um </a:t>
            </a:r>
            <a:r>
              <a:rPr spc="-10" dirty="0"/>
              <a:t>problema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58850" y="4919345"/>
            <a:ext cx="101530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O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MP4/4 converte</a:t>
            </a: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, mas apresenta uma pressão de manutenção significativamente maior dentro </a:t>
            </a:r>
            <a:r>
              <a:rPr sz="1800" spc="-25" dirty="0">
                <a:solidFill>
                  <a:srgbClr val="111111"/>
                </a:solidFill>
                <a:latin typeface="Arial"/>
                <a:cs typeface="Arial"/>
              </a:rPr>
              <a:t>da </a:t>
            </a:r>
            <a:r>
              <a:rPr sz="1800" dirty="0">
                <a:solidFill>
                  <a:srgbClr val="111111"/>
                </a:solidFill>
                <a:latin typeface="Arial"/>
                <a:cs typeface="Arial"/>
              </a:rPr>
              <a:t>amostra </a:t>
            </a:r>
            <a:r>
              <a:rPr sz="1800" spc="-10" dirty="0">
                <a:solidFill>
                  <a:srgbClr val="111111"/>
                </a:solidFill>
                <a:latin typeface="Arial"/>
                <a:cs typeface="Arial"/>
              </a:rPr>
              <a:t>analisada.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O</a:t>
            </a:r>
            <a:r>
              <a:rPr spc="-10" dirty="0"/>
              <a:t> </a:t>
            </a:r>
            <a:r>
              <a:rPr dirty="0"/>
              <a:t>que significa </a:t>
            </a:r>
            <a:r>
              <a:rPr spc="-10" dirty="0"/>
              <a:t>199%?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100" y="1702752"/>
            <a:ext cx="10374630" cy="399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spc="-10" dirty="0">
                <a:solidFill>
                  <a:srgbClr val="111111"/>
                </a:solidFill>
                <a:latin typeface="Arial"/>
                <a:cs typeface="Arial"/>
              </a:rPr>
              <a:t>MP4/4</a:t>
            </a:r>
            <a:endParaRPr sz="2400">
              <a:latin typeface="Arial"/>
              <a:cs typeface="Arial"/>
            </a:endParaRPr>
          </a:p>
          <a:p>
            <a:pPr marL="12700" marR="5501640">
              <a:lnSpc>
                <a:spcPts val="4500"/>
              </a:lnSpc>
              <a:spcBef>
                <a:spcPts val="195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R$</a:t>
            </a:r>
            <a:r>
              <a:rPr sz="2150" b="1" spc="1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1,38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mi</a:t>
            </a:r>
            <a:r>
              <a:rPr sz="21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em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manutenção</a:t>
            </a:r>
            <a:r>
              <a:rPr sz="215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acumulada versus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R$</a:t>
            </a:r>
            <a:r>
              <a:rPr sz="2150" b="1" spc="1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696,6</a:t>
            </a:r>
            <a:r>
              <a:rPr sz="21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mil</a:t>
            </a:r>
            <a:r>
              <a:rPr sz="2150" b="1" spc="2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em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valor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de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propostas</a:t>
            </a:r>
            <a:r>
              <a:rPr sz="215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ganhas</a:t>
            </a: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58A"/>
                </a:solidFill>
                <a:latin typeface="Arial"/>
                <a:cs typeface="Arial"/>
              </a:rPr>
              <a:t>Manutenção</a:t>
            </a:r>
            <a:r>
              <a:rPr sz="200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58A"/>
                </a:solidFill>
                <a:latin typeface="Arial"/>
                <a:cs typeface="Arial"/>
              </a:rPr>
              <a:t>/</a:t>
            </a:r>
            <a:r>
              <a:rPr sz="2000" b="1" spc="3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58A"/>
                </a:solidFill>
                <a:latin typeface="Arial"/>
                <a:cs typeface="Arial"/>
              </a:rPr>
              <a:t>Valor</a:t>
            </a:r>
            <a:r>
              <a:rPr sz="2000" b="1" spc="3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58A"/>
                </a:solidFill>
                <a:latin typeface="Arial"/>
                <a:cs typeface="Arial"/>
              </a:rPr>
              <a:t>Ganho</a:t>
            </a:r>
            <a:r>
              <a:rPr sz="2000" b="1" spc="3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658A"/>
                </a:solidFill>
                <a:latin typeface="Arial"/>
                <a:cs typeface="Arial"/>
              </a:rPr>
              <a:t>≈</a:t>
            </a:r>
            <a:r>
              <a:rPr sz="2000" b="1" spc="3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658A"/>
                </a:solidFill>
                <a:latin typeface="Arial"/>
                <a:cs typeface="Arial"/>
              </a:rPr>
              <a:t>1,99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230"/>
              </a:spcBef>
            </a:pP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Ou</a:t>
            </a:r>
            <a:r>
              <a:rPr sz="215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seja,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manutenção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acumulada</a:t>
            </a:r>
            <a:r>
              <a:rPr sz="215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corresponde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215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111111"/>
                </a:solidFill>
                <a:latin typeface="Arial"/>
                <a:cs typeface="Arial"/>
              </a:rPr>
              <a:t>aproximadamente</a:t>
            </a:r>
            <a:r>
              <a:rPr sz="215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199%</a:t>
            </a:r>
            <a:r>
              <a:rPr sz="2150" b="1" spc="1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do</a:t>
            </a:r>
            <a:r>
              <a:rPr sz="2150" b="1" spc="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0658A"/>
                </a:solidFill>
                <a:latin typeface="Arial"/>
                <a:cs typeface="Arial"/>
              </a:rPr>
              <a:t>valor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comercial</a:t>
            </a:r>
            <a:r>
              <a:rPr sz="2150" b="1" spc="2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ganho</a:t>
            </a:r>
            <a:r>
              <a:rPr sz="21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0658A"/>
                </a:solidFill>
                <a:latin typeface="Arial"/>
                <a:cs typeface="Arial"/>
              </a:rPr>
              <a:t>analisado</a:t>
            </a:r>
            <a:r>
              <a:rPr sz="2150" spc="-10" dirty="0">
                <a:solidFill>
                  <a:srgbClr val="111111"/>
                </a:solidFill>
                <a:latin typeface="Arial"/>
                <a:cs typeface="Arial"/>
              </a:rPr>
              <a:t>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6350000"/>
            <a:ext cx="89204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777777"/>
                </a:solidFill>
                <a:latin typeface="Arial"/>
                <a:cs typeface="Arial"/>
              </a:rPr>
              <a:t>Essa relação é uma proxy comparativa. Não representa margem ou prejuízo contábil, pois manutenção acumulada e propostas podem possuir horizontes temporais </a:t>
            </a:r>
            <a:r>
              <a:rPr sz="900" spc="-10" dirty="0">
                <a:solidFill>
                  <a:srgbClr val="777777"/>
                </a:solidFill>
                <a:latin typeface="Arial"/>
                <a:cs typeface="Arial"/>
              </a:rPr>
              <a:t>diferentes.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1370330"/>
            <a:ext cx="302895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05. </a:t>
            </a:r>
            <a:r>
              <a:rPr spc="-10" dirty="0"/>
              <a:t>Recomendação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2190750"/>
            <a:ext cx="5295900" cy="28575"/>
          </a:xfrm>
          <a:custGeom>
            <a:avLst/>
            <a:gdLst/>
            <a:ahLst/>
            <a:cxnLst/>
            <a:rect l="l" t="t" r="r" b="b"/>
            <a:pathLst>
              <a:path w="5295900" h="28575">
                <a:moveTo>
                  <a:pt x="5295900" y="28575"/>
                </a:moveTo>
                <a:lnTo>
                  <a:pt x="0" y="28575"/>
                </a:lnTo>
                <a:lnTo>
                  <a:pt x="0" y="0"/>
                </a:lnTo>
                <a:lnTo>
                  <a:pt x="5295900" y="0"/>
                </a:lnTo>
                <a:lnTo>
                  <a:pt x="5295900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9300" y="2368550"/>
            <a:ext cx="4471670" cy="1105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01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Priorizar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Logistics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2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Oportunidade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comercial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mais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robusta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em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escala,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conversão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50" dirty="0">
                <a:solidFill>
                  <a:srgbClr val="545454"/>
                </a:solidFill>
                <a:latin typeface="Arial"/>
                <a:cs typeface="Arial"/>
              </a:rPr>
              <a:t>e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velocidade.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19825" y="2190750"/>
            <a:ext cx="5286375" cy="28575"/>
          </a:xfrm>
          <a:custGeom>
            <a:avLst/>
            <a:gdLst/>
            <a:ahLst/>
            <a:cxnLst/>
            <a:rect l="l" t="t" r="r" b="b"/>
            <a:pathLst>
              <a:path w="5286375" h="28575">
                <a:moveTo>
                  <a:pt x="5286375" y="28575"/>
                </a:moveTo>
                <a:lnTo>
                  <a:pt x="0" y="28575"/>
                </a:lnTo>
                <a:lnTo>
                  <a:pt x="0" y="0"/>
                </a:lnTo>
                <a:lnTo>
                  <a:pt x="5286375" y="0"/>
                </a:lnTo>
                <a:lnTo>
                  <a:pt x="5286375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8562" y="2368550"/>
            <a:ext cx="4966970" cy="1105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02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Monitorar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Senna</a:t>
            </a:r>
            <a:r>
              <a:rPr sz="1250" b="1" spc="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Heavy</a:t>
            </a:r>
            <a:r>
              <a:rPr sz="1250" b="1" spc="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00658A"/>
                </a:solidFill>
                <a:latin typeface="Arial"/>
                <a:cs typeface="Arial"/>
              </a:rPr>
              <a:t>Machining</a:t>
            </a:r>
            <a:r>
              <a:rPr sz="1250" b="1" spc="5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1250" b="1" spc="-25" dirty="0">
                <a:solidFill>
                  <a:srgbClr val="00658A"/>
                </a:solidFill>
                <a:latin typeface="Arial"/>
                <a:cs typeface="Arial"/>
              </a:rPr>
              <a:t>614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2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Alta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conversão,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porém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com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possível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pressão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econômica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relacionada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ao</a:t>
            </a:r>
            <a:r>
              <a:rPr sz="1250" spc="1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545454"/>
                </a:solidFill>
                <a:latin typeface="Arial"/>
                <a:cs typeface="Arial"/>
              </a:rPr>
              <a:t>mix.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3943350"/>
            <a:ext cx="5295900" cy="28575"/>
          </a:xfrm>
          <a:custGeom>
            <a:avLst/>
            <a:gdLst/>
            <a:ahLst/>
            <a:cxnLst/>
            <a:rect l="l" t="t" r="r" b="b"/>
            <a:pathLst>
              <a:path w="5295900" h="28575">
                <a:moveTo>
                  <a:pt x="5295900" y="28575"/>
                </a:moveTo>
                <a:lnTo>
                  <a:pt x="0" y="28575"/>
                </a:lnTo>
                <a:lnTo>
                  <a:pt x="0" y="0"/>
                </a:lnTo>
                <a:lnTo>
                  <a:pt x="5295900" y="0"/>
                </a:lnTo>
                <a:lnTo>
                  <a:pt x="5295900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9300" y="4121150"/>
            <a:ext cx="4598035" cy="1115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03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Rebalancear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MP4/4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2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Reduzir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gradualmente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concentração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acompanhar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o</a:t>
            </a:r>
            <a:r>
              <a:rPr sz="1250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impacto operacional.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19825" y="3943350"/>
            <a:ext cx="5286375" cy="28575"/>
          </a:xfrm>
          <a:custGeom>
            <a:avLst/>
            <a:gdLst/>
            <a:ahLst/>
            <a:cxnLst/>
            <a:rect l="l" t="t" r="r" b="b"/>
            <a:pathLst>
              <a:path w="5286375" h="28575">
                <a:moveTo>
                  <a:pt x="5286375" y="28575"/>
                </a:moveTo>
                <a:lnTo>
                  <a:pt x="0" y="28575"/>
                </a:lnTo>
                <a:lnTo>
                  <a:pt x="0" y="0"/>
                </a:lnTo>
                <a:lnTo>
                  <a:pt x="5286375" y="0"/>
                </a:lnTo>
                <a:lnTo>
                  <a:pt x="5286375" y="28575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78562" y="4121150"/>
            <a:ext cx="4166235" cy="1115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04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sz="1550" b="1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111111"/>
                </a:solidFill>
                <a:latin typeface="Arial"/>
                <a:cs typeface="Arial"/>
              </a:rPr>
              <a:t>Testar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250" b="1" spc="-10" dirty="0">
                <a:solidFill>
                  <a:srgbClr val="00658A"/>
                </a:solidFill>
                <a:latin typeface="Arial"/>
                <a:cs typeface="Arial"/>
              </a:rPr>
              <a:t>AMR23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30000"/>
              </a:lnSpc>
              <a:spcBef>
                <a:spcPts val="225"/>
              </a:spcBef>
            </a:pP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Aumentar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experimentalmente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sua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participação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validar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50" dirty="0">
                <a:solidFill>
                  <a:srgbClr val="545454"/>
                </a:solidFill>
                <a:latin typeface="Arial"/>
                <a:cs typeface="Arial"/>
              </a:rPr>
              <a:t>o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comportamento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com</a:t>
            </a:r>
            <a:r>
              <a:rPr sz="1250" spc="5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545454"/>
                </a:solidFill>
                <a:latin typeface="Arial"/>
                <a:cs typeface="Arial"/>
              </a:rPr>
              <a:t>novas</a:t>
            </a:r>
            <a:r>
              <a:rPr sz="1250" spc="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545454"/>
                </a:solidFill>
                <a:latin typeface="Arial"/>
                <a:cs typeface="Arial"/>
              </a:rPr>
              <a:t>observações.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191125"/>
            <a:ext cx="47625" cy="685800"/>
          </a:xfrm>
          <a:custGeom>
            <a:avLst/>
            <a:gdLst/>
            <a:ahLst/>
            <a:cxnLst/>
            <a:rect l="l" t="t" r="r" b="b"/>
            <a:pathLst>
              <a:path w="47625" h="685800">
                <a:moveTo>
                  <a:pt x="47625" y="685800"/>
                </a:moveTo>
                <a:lnTo>
                  <a:pt x="0" y="685800"/>
                </a:lnTo>
                <a:lnTo>
                  <a:pt x="0" y="0"/>
                </a:lnTo>
                <a:lnTo>
                  <a:pt x="47625" y="0"/>
                </a:lnTo>
                <a:lnTo>
                  <a:pt x="47625" y="685800"/>
                </a:lnTo>
                <a:close/>
              </a:path>
            </a:pathLst>
          </a:custGeom>
          <a:solidFill>
            <a:srgbClr val="0065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Conclusão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Conversão</a:t>
            </a:r>
            <a:r>
              <a:rPr spc="40" dirty="0"/>
              <a:t> </a:t>
            </a:r>
            <a:r>
              <a:rPr dirty="0"/>
              <a:t>é</a:t>
            </a:r>
            <a:r>
              <a:rPr spc="35" dirty="0"/>
              <a:t> </a:t>
            </a:r>
            <a:r>
              <a:rPr dirty="0"/>
              <a:t>apenas</a:t>
            </a:r>
            <a:r>
              <a:rPr spc="40" dirty="0"/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uma</a:t>
            </a:r>
            <a:r>
              <a:rPr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parte</a:t>
            </a:r>
            <a:r>
              <a:rPr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dirty="0"/>
              <a:t>da</a:t>
            </a:r>
            <a:r>
              <a:rPr spc="35" dirty="0"/>
              <a:t> </a:t>
            </a:r>
            <a:r>
              <a:rPr spc="-10" dirty="0"/>
              <a:t>oportunidade.</a:t>
            </a: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pc="-10" dirty="0"/>
          </a:p>
          <a:p>
            <a:pPr marL="12700" marR="367665">
              <a:lnSpc>
                <a:spcPct val="127899"/>
              </a:lnSpc>
            </a:pPr>
            <a:r>
              <a:rPr dirty="0"/>
              <a:t>A</a:t>
            </a:r>
            <a:r>
              <a:rPr spc="-105" dirty="0"/>
              <a:t> </a:t>
            </a:r>
            <a:r>
              <a:rPr dirty="0"/>
              <a:t>análise</a:t>
            </a:r>
            <a:r>
              <a:rPr spc="35" dirty="0"/>
              <a:t> </a:t>
            </a:r>
            <a:r>
              <a:rPr dirty="0"/>
              <a:t>identificou</a:t>
            </a:r>
            <a:r>
              <a:rPr spc="30" dirty="0"/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Logistics</a:t>
            </a:r>
            <a:r>
              <a:rPr b="1" spc="3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dirty="0"/>
              <a:t>como</a:t>
            </a:r>
            <a:r>
              <a:rPr spc="3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oportunidade</a:t>
            </a:r>
            <a:r>
              <a:rPr spc="30" dirty="0"/>
              <a:t> </a:t>
            </a:r>
            <a:r>
              <a:rPr dirty="0"/>
              <a:t>comercial</a:t>
            </a:r>
            <a:r>
              <a:rPr spc="30" dirty="0"/>
              <a:t> </a:t>
            </a:r>
            <a:r>
              <a:rPr dirty="0"/>
              <a:t>mais</a:t>
            </a:r>
            <a:r>
              <a:rPr spc="30" dirty="0"/>
              <a:t> </a:t>
            </a:r>
            <a:r>
              <a:rPr dirty="0"/>
              <a:t>robusta</a:t>
            </a:r>
            <a:r>
              <a:rPr spc="35" dirty="0"/>
              <a:t> </a:t>
            </a:r>
            <a:r>
              <a:rPr dirty="0"/>
              <a:t>e</a:t>
            </a:r>
            <a:r>
              <a:rPr spc="30" dirty="0"/>
              <a:t> </a:t>
            </a:r>
            <a:r>
              <a:rPr b="1" spc="-10" dirty="0">
                <a:solidFill>
                  <a:srgbClr val="00658A"/>
                </a:solidFill>
                <a:latin typeface="Arial"/>
                <a:cs typeface="Arial"/>
              </a:rPr>
              <a:t>Senna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Heavy</a:t>
            </a:r>
            <a:r>
              <a:rPr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Machining</a:t>
            </a:r>
            <a:r>
              <a:rPr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614</a:t>
            </a:r>
            <a:r>
              <a:rPr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dirty="0"/>
              <a:t>como</a:t>
            </a:r>
            <a:r>
              <a:rPr spc="40" dirty="0"/>
              <a:t> </a:t>
            </a:r>
            <a:r>
              <a:rPr dirty="0"/>
              <a:t>uma</a:t>
            </a:r>
            <a:r>
              <a:rPr spc="35" dirty="0"/>
              <a:t> </a:t>
            </a:r>
            <a:r>
              <a:rPr dirty="0"/>
              <a:t>oportunidade</a:t>
            </a:r>
            <a:r>
              <a:rPr spc="40" dirty="0"/>
              <a:t> </a:t>
            </a:r>
            <a:r>
              <a:rPr dirty="0"/>
              <a:t>individual</a:t>
            </a:r>
            <a:r>
              <a:rPr spc="35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alta</a:t>
            </a:r>
            <a:r>
              <a:rPr spc="35" dirty="0"/>
              <a:t> </a:t>
            </a:r>
            <a:r>
              <a:rPr spc="-10" dirty="0"/>
              <a:t>conversão.</a:t>
            </a:r>
          </a:p>
          <a:p>
            <a:pPr marL="12700" marR="781685">
              <a:lnSpc>
                <a:spcPct val="127899"/>
              </a:lnSpc>
              <a:spcBef>
                <a:spcPts val="1125"/>
              </a:spcBef>
            </a:pPr>
            <a:r>
              <a:rPr dirty="0"/>
              <a:t>O</a:t>
            </a:r>
            <a:r>
              <a:rPr spc="25" dirty="0"/>
              <a:t> </a:t>
            </a:r>
            <a:r>
              <a:rPr dirty="0"/>
              <a:t>cruzamento</a:t>
            </a:r>
            <a:r>
              <a:rPr spc="35" dirty="0"/>
              <a:t> </a:t>
            </a:r>
            <a:r>
              <a:rPr dirty="0"/>
              <a:t>com</a:t>
            </a:r>
            <a:r>
              <a:rPr spc="35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/>
              <a:t>frota,</a:t>
            </a:r>
            <a:r>
              <a:rPr spc="35" dirty="0"/>
              <a:t> </a:t>
            </a:r>
            <a:r>
              <a:rPr dirty="0"/>
              <a:t>entretanto,</a:t>
            </a:r>
            <a:r>
              <a:rPr spc="35" dirty="0"/>
              <a:t> </a:t>
            </a:r>
            <a:r>
              <a:rPr dirty="0"/>
              <a:t>revelou</a:t>
            </a:r>
            <a:r>
              <a:rPr spc="35" dirty="0"/>
              <a:t> </a:t>
            </a:r>
            <a:r>
              <a:rPr dirty="0"/>
              <a:t>que</a:t>
            </a:r>
            <a:r>
              <a:rPr spc="35" dirty="0"/>
              <a:t> </a:t>
            </a:r>
            <a:r>
              <a:rPr dirty="0"/>
              <a:t>o</a:t>
            </a:r>
            <a:r>
              <a:rPr spc="35" dirty="0"/>
              <a:t> </a:t>
            </a:r>
            <a:r>
              <a:rPr dirty="0"/>
              <a:t>desempenho</a:t>
            </a:r>
            <a:r>
              <a:rPr spc="35" dirty="0"/>
              <a:t> </a:t>
            </a:r>
            <a:r>
              <a:rPr dirty="0"/>
              <a:t>comercial</a:t>
            </a:r>
            <a:r>
              <a:rPr spc="40" dirty="0"/>
              <a:t> </a:t>
            </a:r>
            <a:r>
              <a:rPr spc="-20" dirty="0"/>
              <a:t>pode </a:t>
            </a:r>
            <a:r>
              <a:rPr dirty="0"/>
              <a:t>esconder</a:t>
            </a:r>
            <a:r>
              <a:rPr spc="10" dirty="0"/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pressão</a:t>
            </a:r>
            <a:r>
              <a:rPr b="1" spc="1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relevante</a:t>
            </a:r>
            <a:r>
              <a:rPr b="1" spc="1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658A"/>
                </a:solidFill>
                <a:latin typeface="Arial"/>
                <a:cs typeface="Arial"/>
              </a:rPr>
              <a:t>de</a:t>
            </a:r>
            <a:r>
              <a:rPr b="1" spc="1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00658A"/>
                </a:solidFill>
                <a:latin typeface="Arial"/>
                <a:cs typeface="Arial"/>
              </a:rPr>
              <a:t>manutenção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pc="-10" dirty="0"/>
          </a:p>
          <a:p>
            <a:pPr marL="298450" marR="5080">
              <a:lnSpc>
                <a:spcPct val="125000"/>
              </a:lnSpc>
            </a:pPr>
            <a:r>
              <a:rPr sz="1800" dirty="0"/>
              <a:t>A</a:t>
            </a:r>
            <a:r>
              <a:rPr sz="1800" spc="-100" dirty="0"/>
              <a:t> </a:t>
            </a:r>
            <a:r>
              <a:rPr sz="1800" dirty="0"/>
              <a:t>decisão comercial deve considerar não apenas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quem compra</a:t>
            </a:r>
            <a:r>
              <a:rPr sz="1800" dirty="0"/>
              <a:t>, mas também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qual equipamento </a:t>
            </a:r>
            <a:r>
              <a:rPr sz="1800" b="1" spc="-20" dirty="0">
                <a:solidFill>
                  <a:srgbClr val="00658A"/>
                </a:solidFill>
                <a:latin typeface="Arial"/>
                <a:cs typeface="Arial"/>
              </a:rPr>
              <a:t>está </a:t>
            </a:r>
            <a:r>
              <a:rPr sz="1800" b="1" dirty="0">
                <a:solidFill>
                  <a:srgbClr val="00658A"/>
                </a:solidFill>
                <a:latin typeface="Arial"/>
                <a:cs typeface="Arial"/>
              </a:rPr>
              <a:t>sendo colocado nesse </a:t>
            </a:r>
            <a:r>
              <a:rPr sz="1800" b="1" spc="-10" dirty="0">
                <a:solidFill>
                  <a:srgbClr val="00658A"/>
                </a:solidFill>
                <a:latin typeface="Arial"/>
                <a:cs typeface="Arial"/>
              </a:rPr>
              <a:t>cliente</a:t>
            </a:r>
            <a:r>
              <a:rPr sz="1800" spc="-10" dirty="0"/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2056129"/>
            <a:ext cx="1993900" cy="4142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OBRIGADO</a:t>
            </a:r>
            <a:r>
              <a:rPr lang="pt-BR" spc="-10" dirty="0"/>
              <a:t>!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73100" y="2826702"/>
            <a:ext cx="242316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b="1" dirty="0">
                <a:solidFill>
                  <a:srgbClr val="111111"/>
                </a:solidFill>
                <a:latin typeface="Arial"/>
                <a:cs typeface="Arial"/>
              </a:rPr>
              <a:t>Marco</a:t>
            </a:r>
            <a:r>
              <a:rPr sz="2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111111"/>
                </a:solidFill>
                <a:latin typeface="Arial"/>
                <a:cs typeface="Arial"/>
              </a:rPr>
              <a:t>T.</a:t>
            </a:r>
            <a:r>
              <a:rPr sz="2400" b="1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11111"/>
                </a:solidFill>
                <a:latin typeface="Arial"/>
                <a:cs typeface="Arial"/>
              </a:rPr>
              <a:t>Dueñas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4378325"/>
            <a:ext cx="3849370" cy="356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Desafio</a:t>
            </a:r>
            <a:r>
              <a:rPr sz="21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Maker</a:t>
            </a:r>
            <a:r>
              <a:rPr sz="21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|</a:t>
            </a:r>
            <a:r>
              <a:rPr sz="2150" b="1" spc="40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dirty="0">
                <a:solidFill>
                  <a:srgbClr val="00658A"/>
                </a:solidFill>
                <a:latin typeface="Arial"/>
                <a:cs typeface="Arial"/>
              </a:rPr>
              <a:t>Data</a:t>
            </a:r>
            <a:r>
              <a:rPr sz="2150" b="1" spc="35" dirty="0">
                <a:solidFill>
                  <a:srgbClr val="00658A"/>
                </a:solidFill>
                <a:latin typeface="Arial"/>
                <a:cs typeface="Arial"/>
              </a:rPr>
              <a:t> </a:t>
            </a:r>
            <a:r>
              <a:rPr sz="2150" b="1" spc="-10" dirty="0">
                <a:solidFill>
                  <a:srgbClr val="00658A"/>
                </a:solidFill>
                <a:latin typeface="Arial"/>
                <a:cs typeface="Arial"/>
              </a:rPr>
              <a:t>Science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850</Words>
  <Application>Microsoft Office PowerPoint</Application>
  <PresentationFormat>Widescreen</PresentationFormat>
  <Paragraphs>196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Análise Comercial e Rentabilidade da frota</vt:lpstr>
      <vt:lpstr>Como a análise foi conduzida</vt:lpstr>
      <vt:lpstr>01. Preparação e qualidade dos dados</vt:lpstr>
      <vt:lpstr>02. Benchmark da operação</vt:lpstr>
      <vt:lpstr>Como foi definido o Win Rate?</vt:lpstr>
      <vt:lpstr>03. Duas oportunidades se destacaram</vt:lpstr>
      <vt:lpstr>Por que escolher o setor de Logistics?</vt:lpstr>
      <vt:lpstr>Por que Senna Heavy Machining 614?</vt:lpstr>
      <vt:lpstr>04. O Fator Multiplicador</vt:lpstr>
      <vt:lpstr>Cruzando comercial e frota</vt:lpstr>
      <vt:lpstr>Senna continua convertendo...</vt:lpstr>
      <vt:lpstr>...mas o mix revela um problema</vt:lpstr>
      <vt:lpstr>O que significa 199%?</vt:lpstr>
      <vt:lpstr>05. Recomendação</vt:lpstr>
      <vt:lpstr>Conclusão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 &lt;span class="azul"&gt;Comercial&lt;/span&gt; e &lt;span class="azul"&gt;Rentabilidade&lt;/span&gt; da frota</dc:title>
  <cp:lastModifiedBy>Marco</cp:lastModifiedBy>
  <cp:revision>1</cp:revision>
  <dcterms:created xsi:type="dcterms:W3CDTF">2026-07-27T22:34:38Z</dcterms:created>
  <dcterms:modified xsi:type="dcterms:W3CDTF">2026-07-28T00:20:19Z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2026-07-27T00:00:00Z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2026-07-27T00:00:00Z</vt:filetime>
  </property>
  <property fmtid="{D5CDD505-2E9C-101B-9397-08002B2CF9AE}" pid="5" name="Producer">
    <vt:lpwstr>3-Heights(TM) PDF Security Shell 4.8.25.2 (http://www.pdf-tools.com)</vt:lpwstr>
  </property>
</Properties>
</file>